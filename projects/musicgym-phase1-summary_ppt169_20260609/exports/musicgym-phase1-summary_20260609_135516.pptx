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1761465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143485" y="2084070"/>
            <a:ext cx="3905031" cy="1097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MusicGym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59129" y="30118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v5.2 第一阶段项目总结</a:t>
            </a:r>
          </a:p>
        </p:txBody>
      </p:sp>
      <p:sp>
        <p:nvSpPr>
          <p:cNvPr id="6" name="Line 6"/>
          <p:cNvSpPr/>
          <p:nvPr/>
        </p:nvSpPr>
        <p:spPr>
          <a:xfrm>
            <a:off x="4191000" y="3619500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4056817" y="3917632"/>
            <a:ext cx="407836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Vibe Coding · AI 驱动 · 独立全栈开发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879812" y="4331018"/>
            <a:ext cx="64323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2026.03 — 2026.06 · Android 健身应用 · 54 Java文件 · 11,300+ 行代码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13673" y="6077902"/>
            <a:ext cx="25646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github.com/Waiutt/musicgymv2.0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470535"/>
            <a:ext cx="89668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目录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9525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2950" y="1362075"/>
            <a:ext cx="21428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第一部分 · 项目概述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5855" y="1759268"/>
            <a:ext cx="10989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P3 项目简介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2950" y="2219325"/>
            <a:ext cx="21428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第二部分 · 开发方式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855" y="2616518"/>
            <a:ext cx="22031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P4 Vibe Coding 开发流程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5855" y="2902268"/>
            <a:ext cx="18876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P5 AI + 人工协作模式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2950" y="3362325"/>
            <a:ext cx="21428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第三部分 · 技术架构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5855" y="3759518"/>
            <a:ext cx="12961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P6 整体架构图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5855" y="4045268"/>
            <a:ext cx="12961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P7 技术栈详解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25855" y="4331018"/>
            <a:ext cx="12961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P8 数据库设计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52950" y="1362075"/>
            <a:ext cx="21428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第四部分 · 功能矩阵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35855" y="1759268"/>
            <a:ext cx="14046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P9 7大模块总览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35855" y="2045018"/>
            <a:ext cx="17792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P10 音乐 + 力量训练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35855" y="2330768"/>
            <a:ext cx="20552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P11 GPS追踪 + 数据统计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935855" y="2616518"/>
            <a:ext cx="15524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P12 社区社交系统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2950" y="3076575"/>
            <a:ext cx="21428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第五部分 · 质量工程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35855" y="3473768"/>
            <a:ext cx="14637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P13 5轮代码审计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35855" y="3759518"/>
            <a:ext cx="160177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P14 真机 Bug 修复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35855" y="4045268"/>
            <a:ext cx="2173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P15 代码规模 + 质量评分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52950" y="4505325"/>
            <a:ext cx="21428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第六部分 · 反思展望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935855" y="4902518"/>
            <a:ext cx="15524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P16 项目不足之处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35855" y="5188268"/>
            <a:ext cx="22622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P17 Vibe Coding 经验总结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42950" y="5648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第七部分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5855" y="6045518"/>
            <a:ext cx="221299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P18 结尾 · GitHub + 截图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37528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项目简介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8572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191571" y="1313498"/>
            <a:ext cx="3808857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950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一站式健身记录 Android 应用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48085" y="1759268"/>
            <a:ext cx="54958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GPS 运动追踪 × 力量训练 × 本地音乐 × 社区社交 × AI 训练计划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381250"/>
            <a:ext cx="257175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66243" y="2486025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7800" y="3061335"/>
            <a:ext cx="81915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Java 文件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286125" y="2381250"/>
            <a:ext cx="257175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016335" y="2486025"/>
            <a:ext cx="1111329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11.3K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06240" y="3061335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代码行数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000750" y="2381250"/>
            <a:ext cx="257175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995493" y="2486025"/>
            <a:ext cx="582263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73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71894" y="3061335"/>
            <a:ext cx="10294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Git Commits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715375" y="2381250"/>
            <a:ext cx="2905125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745528" y="2486025"/>
            <a:ext cx="835295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20+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01797" y="3061335"/>
            <a:ext cx="7227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Bug 修复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3714750"/>
            <a:ext cx="11049000" cy="133350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33450" y="3933825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核心差异化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36308" y="4291489"/>
            <a:ext cx="5991225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BPM 步频匹配（加速度传感器 → 自动切歌）· DeepSeek AI 训练计划生成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6308" y="4577239"/>
            <a:ext cx="529292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Firebase 社区社交（关注/挑战/活动流）· 5 轮全维度代码审计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38750"/>
            <a:ext cx="3524250" cy="57150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41868" y="5453539"/>
            <a:ext cx="258351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🟢 MVVM + Room v5 + Firebase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238625" y="5238750"/>
            <a:ext cx="3524250" cy="57150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797445" y="5453539"/>
            <a:ext cx="240661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📱 minSdk 26 · Android 8.0+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905750" y="5238750"/>
            <a:ext cx="3714750" cy="571500"/>
          </a:xfrm>
          <a:prstGeom prst="roundRect">
            <a:avLst>
              <a:gd name="adj" fmla="val 13333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587752" y="5453539"/>
            <a:ext cx="235074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🤖 Vibe Coding · AI 驱动开发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375285"/>
            <a:ext cx="404347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Vibe Coding 开发流程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8572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1905000" cy="7620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004817" y="1521142"/>
            <a:ext cx="1038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💬 需求描述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50608" y="1791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自然语言输入</a:t>
            </a:r>
          </a:p>
        </p:txBody>
      </p:sp>
      <p:sp>
        <p:nvSpPr>
          <p:cNvPr id="9" name="Line 9"/>
          <p:cNvSpPr/>
          <p:nvPr/>
        </p:nvSpPr>
        <p:spPr>
          <a:xfrm>
            <a:off x="2476500" y="1714500"/>
            <a:ext cx="381000" cy="1"/>
          </a:xfrm>
          <a:prstGeom prst="line">
            <a:avLst/>
          </a:prstGeom>
          <a:noFill/>
          <a:ln w="19050">
            <a:solidFill>
              <a:srgbClr val="FC4C02"/>
            </a:solidFill>
            <a:tailEnd type="triangle" w="lg" len="lg"/>
          </a:ln>
        </p:spPr>
      </p:sp>
      <p:sp>
        <p:nvSpPr>
          <p:cNvPr id="10" name="Rectangle 10"/>
          <p:cNvSpPr/>
          <p:nvPr/>
        </p:nvSpPr>
        <p:spPr>
          <a:xfrm>
            <a:off x="2905125" y="1333500"/>
            <a:ext cx="1905000" cy="7620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9050">
            <a:solidFill>
              <a:srgbClr val="FC4C02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426428" y="1521142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🤖 AI 生成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449407" y="1791652"/>
            <a:ext cx="8164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方案 + 代码</a:t>
            </a:r>
          </a:p>
        </p:txBody>
      </p:sp>
      <p:sp>
        <p:nvSpPr>
          <p:cNvPr id="13" name="Line 13"/>
          <p:cNvSpPr/>
          <p:nvPr/>
        </p:nvSpPr>
        <p:spPr>
          <a:xfrm>
            <a:off x="4810125" y="1714500"/>
            <a:ext cx="381000" cy="1"/>
          </a:xfrm>
          <a:prstGeom prst="line">
            <a:avLst/>
          </a:prstGeom>
          <a:noFill/>
          <a:ln w="19050">
            <a:solidFill>
              <a:srgbClr val="FC4C02"/>
            </a:solidFill>
            <a:tailEnd type="triangle" w="lg" len="lg"/>
          </a:ln>
        </p:spPr>
      </p:sp>
      <p:sp>
        <p:nvSpPr>
          <p:cNvPr id="14" name="Rectangle 14"/>
          <p:cNvSpPr/>
          <p:nvPr/>
        </p:nvSpPr>
        <p:spPr>
          <a:xfrm>
            <a:off x="5238750" y="1333500"/>
            <a:ext cx="1905000" cy="7620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9050">
            <a:solidFill>
              <a:srgbClr val="22C55E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672067" y="1521142"/>
            <a:ext cx="1038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👤 人工审查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17858" y="1791652"/>
            <a:ext cx="94678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关键决策确认</a:t>
            </a:r>
          </a:p>
        </p:txBody>
      </p:sp>
      <p:sp>
        <p:nvSpPr>
          <p:cNvPr id="17" name="Line 17"/>
          <p:cNvSpPr/>
          <p:nvPr/>
        </p:nvSpPr>
        <p:spPr>
          <a:xfrm>
            <a:off x="7143750" y="1714500"/>
            <a:ext cx="381000" cy="1"/>
          </a:xfrm>
          <a:prstGeom prst="line">
            <a:avLst/>
          </a:prstGeom>
          <a:noFill/>
          <a:ln w="19050">
            <a:solidFill>
              <a:srgbClr val="FC4C02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7572375" y="1333500"/>
            <a:ext cx="1905000" cy="7620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9050">
            <a:solidFill>
              <a:srgbClr val="A78BFA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005692" y="1521142"/>
            <a:ext cx="1038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📦 编译验证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967139" y="1791652"/>
            <a:ext cx="111547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assembleDebug</a:t>
            </a:r>
          </a:p>
        </p:txBody>
      </p:sp>
      <p:sp>
        <p:nvSpPr>
          <p:cNvPr id="21" name="Line 21"/>
          <p:cNvSpPr/>
          <p:nvPr/>
        </p:nvSpPr>
        <p:spPr>
          <a:xfrm>
            <a:off x="9477375" y="1714500"/>
            <a:ext cx="381000" cy="1"/>
          </a:xfrm>
          <a:prstGeom prst="line">
            <a:avLst/>
          </a:prstGeom>
          <a:noFill/>
          <a:ln w="19050">
            <a:solidFill>
              <a:srgbClr val="FC4C02"/>
            </a:solidFill>
            <a:tailEnd type="triangle" w="lg" len="lg"/>
          </a:ln>
        </p:spPr>
      </p:sp>
      <p:sp>
        <p:nvSpPr>
          <p:cNvPr id="22" name="Rectangle 22"/>
          <p:cNvSpPr/>
          <p:nvPr/>
        </p:nvSpPr>
        <p:spPr>
          <a:xfrm>
            <a:off x="9906000" y="1333500"/>
            <a:ext cx="1714500" cy="7620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9050">
            <a:solidFill>
              <a:srgbClr val="F59E0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244067" y="1521142"/>
            <a:ext cx="10383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📱 真机测试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43210" y="1791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反馈迭代</a:t>
            </a:r>
          </a:p>
        </p:txBody>
      </p:sp>
      <p:sp>
        <p:nvSpPr>
          <p:cNvPr id="25" name="Freeform 25"/>
          <p:cNvSpPr/>
          <p:nvPr/>
        </p:nvSpPr>
        <p:spPr>
          <a:xfrm>
            <a:off x="1524000" y="2095500"/>
            <a:ext cx="9239250" cy="444500"/>
          </a:xfrm>
          <a:custGeom>
            <a:avLst/>
            <a:gdLst/>
            <a:ahLst/>
            <a:cxnLst/>
            <a:rect l="l" t="t" r="r" b="b"/>
            <a:pathLst>
              <a:path w="9239250" h="444500">
                <a:moveTo>
                  <a:pt x="9239250" y="0"/>
                </a:moveTo>
                <a:cubicBezTo>
                  <a:pt x="6127750" y="444500"/>
                  <a:pt x="3048000" y="444500"/>
                  <a:pt x="0" y="0"/>
                </a:cubicBezTo>
              </a:path>
            </a:pathLst>
          </a:custGeom>
          <a:noFill/>
          <a:ln w="19050">
            <a:solidFill>
              <a:srgbClr val="FC4C02"/>
            </a:solidFill>
            <a:custDash>
              <a:ds d="300000" sp="200000"/>
            </a:custDash>
            <a:tailEnd type="triangle" w="lg" len="lg"/>
          </a:ln>
        </p:spPr>
      </p:sp>
      <p:sp>
        <p:nvSpPr>
          <p:cNvPr id="26" name="TextBox 26"/>
          <p:cNvSpPr txBox="1"/>
          <p:nvPr/>
        </p:nvSpPr>
        <p:spPr>
          <a:xfrm>
            <a:off x="4924854" y="2506028"/>
            <a:ext cx="234229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循环迭代 (单会话最高 35 次提交)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3143250"/>
            <a:ext cx="3524250" cy="9525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99507" y="3265170"/>
            <a:ext cx="668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70%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91830" y="3680460"/>
            <a:ext cx="12835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AI 生成代码占比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238625" y="3143250"/>
            <a:ext cx="3524250" cy="9525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574621" y="3265170"/>
            <a:ext cx="85225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10 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372100" y="36804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全维度代码审计</a:t>
            </a:r>
          </a:p>
        </p:txBody>
      </p:sp>
      <p:sp>
        <p:nvSpPr>
          <p:cNvPr id="33" name="Rectangle 33"/>
          <p:cNvSpPr/>
          <p:nvPr/>
        </p:nvSpPr>
        <p:spPr>
          <a:xfrm>
            <a:off x="7905750" y="3143250"/>
            <a:ext cx="3714750" cy="9525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269662" y="3265170"/>
            <a:ext cx="298692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35 commits/会话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34475" y="368046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最高单会话效率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42950" y="45053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关键特征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45808" y="4910614"/>
            <a:ext cx="68757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AI 负责代码生成、测试编写、Bug修复——人工负责架构决策、安全审查、最终验收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5808" y="5243989"/>
            <a:ext cx="521843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每批次改动 → 编译验证 → Lint 检查 → 真机测试 → 修复 → 提交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45808" y="5577364"/>
            <a:ext cx="649400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单会话实现 7 项新功能 + 20+ Bug修复 + 5轮审计 + 无障碍/性能/兼容性优化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375285"/>
            <a:ext cx="338099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AI + 人工协作模式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8572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333500"/>
            <a:ext cx="5334000" cy="49530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9050">
            <a:solidFill>
              <a:srgbClr val="38BDF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021791" y="1615440"/>
            <a:ext cx="24334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🤖 AI (Claude Code)</a:t>
            </a:r>
          </a:p>
        </p:txBody>
      </p:sp>
      <p:sp>
        <p:nvSpPr>
          <p:cNvPr id="8" name="Line 8"/>
          <p:cNvSpPr/>
          <p:nvPr/>
        </p:nvSpPr>
        <p:spPr>
          <a:xfrm>
            <a:off x="952500" y="20002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35355" y="2330768"/>
            <a:ext cx="241015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代码生成（Java / XML）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5355" y="2711768"/>
            <a:ext cx="20059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方案设计 + 选项分析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5355" y="3092768"/>
            <a:ext cx="22820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多轮代码审计（5维度）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5355" y="3473768"/>
            <a:ext cx="199610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Bug 定位 + 修复代码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35355" y="3854768"/>
            <a:ext cx="27749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文档生成（README/作品集）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35355" y="4235768"/>
            <a:ext cx="20552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构建验证 + Lint 检查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5355" y="4616768"/>
            <a:ext cx="13848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测试用例编写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5355" y="4997768"/>
            <a:ext cx="12172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UI 布局优化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5355" y="5378768"/>
            <a:ext cx="118772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兼容性分析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1333500"/>
            <a:ext cx="5334000" cy="495300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9050">
            <a:solidFill>
              <a:srgbClr val="FC4C02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7709187" y="1615440"/>
            <a:ext cx="248862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👤 人工（关键决策）</a:t>
            </a:r>
          </a:p>
        </p:txBody>
      </p:sp>
      <p:sp>
        <p:nvSpPr>
          <p:cNvPr id="20" name="Line 20"/>
          <p:cNvSpPr/>
          <p:nvPr/>
        </p:nvSpPr>
        <p:spPr>
          <a:xfrm>
            <a:off x="6667500" y="20002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650355" y="233076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🎯 需求定义 + 优先级排序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50355" y="2711768"/>
            <a:ext cx="34058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🎯 架构决策（MVVM/Room/Firebase）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0355" y="3092768"/>
            <a:ext cx="30509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🎯 安全审查（API Key/备份/签名）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50355" y="3473768"/>
            <a:ext cx="253831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🎯 方案确认（AI建议的取舍）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0355" y="3854768"/>
            <a:ext cx="1611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🎯 真机测试 + 反馈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0355" y="4235768"/>
            <a:ext cx="31199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🎯 产品方向（功能取舍/ROADMAP）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0355" y="4616768"/>
            <a:ext cx="267633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🎯 最终验收（代码合入/发布）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0355" y="4997768"/>
            <a:ext cx="330727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🎯 外部资源获取（Firebase/GitHub）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0355" y="5378768"/>
            <a:ext cx="22031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🎯 简历包装 + 作品集输出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172478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技术架构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238500" y="1143000"/>
            <a:ext cx="5715000" cy="476250"/>
          </a:xfrm>
          <a:prstGeom prst="roundRect">
            <a:avLst>
              <a:gd name="adj" fmla="val 20000"/>
            </a:avLst>
          </a:prstGeom>
          <a:solidFill>
            <a:srgbClr val="FC4C02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437995" y="1266825"/>
            <a:ext cx="33160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MainActivity (5 Tab 底部导航)</a:t>
            </a:r>
          </a:p>
        </p:txBody>
      </p:sp>
      <p:sp>
        <p:nvSpPr>
          <p:cNvPr id="8" name="Line 8"/>
          <p:cNvSpPr/>
          <p:nvPr/>
        </p:nvSpPr>
        <p:spPr>
          <a:xfrm>
            <a:off x="3810000" y="1619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475569"/>
            </a:solidFill>
          </a:ln>
        </p:spPr>
      </p:sp>
      <p:sp>
        <p:nvSpPr>
          <p:cNvPr id="9" name="Line 9"/>
          <p:cNvSpPr/>
          <p:nvPr/>
        </p:nvSpPr>
        <p:spPr>
          <a:xfrm>
            <a:off x="4953000" y="1619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475569"/>
            </a:solidFill>
          </a:ln>
        </p:spPr>
      </p:sp>
      <p:sp>
        <p:nvSpPr>
          <p:cNvPr id="10" name="Line 10"/>
          <p:cNvSpPr/>
          <p:nvPr/>
        </p:nvSpPr>
        <p:spPr>
          <a:xfrm>
            <a:off x="6096000" y="1619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475569"/>
            </a:solidFill>
          </a:ln>
        </p:spPr>
      </p:sp>
      <p:sp>
        <p:nvSpPr>
          <p:cNvPr id="11" name="Line 11"/>
          <p:cNvSpPr/>
          <p:nvPr/>
        </p:nvSpPr>
        <p:spPr>
          <a:xfrm>
            <a:off x="7239000" y="1619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475569"/>
            </a:solidFill>
          </a:ln>
        </p:spPr>
      </p:sp>
      <p:sp>
        <p:nvSpPr>
          <p:cNvPr id="12" name="Line 12"/>
          <p:cNvSpPr/>
          <p:nvPr/>
        </p:nvSpPr>
        <p:spPr>
          <a:xfrm>
            <a:off x="8382000" y="1619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475569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952750" y="2000250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315117" y="2116931"/>
            <a:ext cx="9897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GYM (MVVM)</a:t>
            </a:r>
          </a:p>
        </p:txBody>
      </p:sp>
      <p:sp>
        <p:nvSpPr>
          <p:cNvPr id="15" name="Rectangle 15"/>
          <p:cNvSpPr/>
          <p:nvPr/>
        </p:nvSpPr>
        <p:spPr>
          <a:xfrm>
            <a:off x="4095750" y="2000250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88287" y="2116931"/>
            <a:ext cx="11294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MUSIC (MVVM)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238750" y="2000250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5527179" y="2116931"/>
            <a:ext cx="11376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STATS (MVVM)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381750" y="2000250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912531" y="2116931"/>
            <a:ext cx="6529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PROFILE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524750" y="2000250"/>
            <a:ext cx="1714500" cy="38100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141791" y="2116931"/>
            <a:ext cx="4804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SHARE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286000" y="3048000"/>
            <a:ext cx="7620000" cy="428625"/>
          </a:xfrm>
          <a:prstGeom prst="roundRect">
            <a:avLst>
              <a:gd name="adj" fmla="val 22222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3269218" y="3168968"/>
            <a:ext cx="565356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AppDatabase · Room v5 · 8 Entities · 7 DAOs · 5 Migrations</a:t>
            </a:r>
          </a:p>
        </p:txBody>
      </p:sp>
      <p:sp>
        <p:nvSpPr>
          <p:cNvPr id="25" name="Line 25"/>
          <p:cNvSpPr/>
          <p:nvPr/>
        </p:nvSpPr>
        <p:spPr>
          <a:xfrm>
            <a:off x="6096000" y="3476625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9050">
            <a:solidFill>
              <a:srgbClr val="475569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952500" y="3810000"/>
            <a:ext cx="2381250" cy="428625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326070" y="3947160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Firebase Firestore</a:t>
            </a:r>
          </a:p>
        </p:txBody>
      </p:sp>
      <p:sp>
        <p:nvSpPr>
          <p:cNvPr id="28" name="Rectangle 28"/>
          <p:cNvSpPr/>
          <p:nvPr/>
        </p:nvSpPr>
        <p:spPr>
          <a:xfrm>
            <a:off x="3619500" y="3810000"/>
            <a:ext cx="2381250" cy="428625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413694" y="3947160"/>
            <a:ext cx="7928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AMap SDK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286500" y="3810000"/>
            <a:ext cx="2381250" cy="428625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642544" y="3947160"/>
            <a:ext cx="16691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SharedPreferences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953500" y="3810000"/>
            <a:ext cx="2286000" cy="428625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546717" y="3947160"/>
            <a:ext cx="10995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DeepSeek API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667250"/>
            <a:ext cx="11049000" cy="17145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33450" y="4886325"/>
            <a:ext cx="141827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关键设计决策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37260" y="5299710"/>
            <a:ext cx="592797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双重检查锁单例（volatile + synchronized）确保 AppDatabase 线程安全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7260" y="5585460"/>
            <a:ext cx="54460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全 DAO 调用通过 ExecutorService 后台线程池执行，零主线程查询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7260" y="5871210"/>
            <a:ext cx="53408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API Key 通过 BuildConfig + local.properties 安全注入，不入 Git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37260" y="6156960"/>
            <a:ext cx="486765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Firebase 离线降级 → Room BlogPost 本地数据，社区不中断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技术栈详解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26670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93986" y="12973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6965" y="1711642"/>
            <a:ext cx="6760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Java 11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38312" y="1982152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语言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381375" y="1143000"/>
            <a:ext cx="26670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4519517" y="1297305"/>
            <a:ext cx="39071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🏗️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28596" y="1711642"/>
            <a:ext cx="5725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MVVM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80783" y="1982152"/>
            <a:ext cx="14681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架构 · 4 ViewModels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191250" y="1143000"/>
            <a:ext cx="26670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329392" y="1297305"/>
            <a:ext cx="39071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🗄️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14256" y="1711642"/>
            <a:ext cx="8209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Room v5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17174" y="1982152"/>
            <a:ext cx="12151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8 Entity · 7 DAO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001125" y="1143000"/>
            <a:ext cx="2619375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195036" y="12973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🔥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59326" y="1711642"/>
            <a:ext cx="8934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Firebase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75471" y="1982152"/>
            <a:ext cx="12611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Firestore + Auth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571750"/>
            <a:ext cx="26670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709642" y="2726055"/>
            <a:ext cx="39071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🗺️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37574" y="3140392"/>
            <a:ext cx="93485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AMap SDK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2920" y="3410902"/>
            <a:ext cx="12841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高德 3D · GPS追踪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381375" y="2571750"/>
            <a:ext cx="26670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603861" y="27260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📊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905856" y="3140392"/>
            <a:ext cx="16180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MPAndroidChart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53305" y="341090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折线图 · 热力图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191250" y="2571750"/>
            <a:ext cx="26670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7329392" y="2726055"/>
            <a:ext cx="39071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🖼️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041797" y="3140392"/>
            <a:ext cx="9659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Glide 4.16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963180" y="3410902"/>
            <a:ext cx="112314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图片加载 + 缓存</a:t>
            </a:r>
          </a:p>
        </p:txBody>
      </p:sp>
      <p:sp>
        <p:nvSpPr>
          <p:cNvPr id="34" name="Rectangle 34"/>
          <p:cNvSpPr/>
          <p:nvPr/>
        </p:nvSpPr>
        <p:spPr>
          <a:xfrm>
            <a:off x="9001125" y="2571750"/>
            <a:ext cx="2619375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195036" y="272605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657476" y="3140392"/>
            <a:ext cx="1297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DeepSeek API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97832" y="3410902"/>
            <a:ext cx="8164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AI 训练计划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000500"/>
            <a:ext cx="26670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1793986" y="41548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🎵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92656" y="4569142"/>
            <a:ext cx="122468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MediaPlayer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01258" y="4839652"/>
            <a:ext cx="12074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AudioFocus · EQ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381375" y="4000500"/>
            <a:ext cx="26670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4603861" y="41548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📐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154287" y="4569142"/>
            <a:ext cx="11211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Material UI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796760" y="4839652"/>
            <a:ext cx="18362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CardView · RecyclerView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191250" y="4000500"/>
            <a:ext cx="26670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413736" y="41548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📦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881352" y="4569142"/>
            <a:ext cx="1286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ProGuard/R8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959346" y="4839652"/>
            <a:ext cx="113080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混淆 · 78→45MB</a:t>
            </a:r>
          </a:p>
        </p:txBody>
      </p:sp>
      <p:sp>
        <p:nvSpPr>
          <p:cNvPr id="50" name="Rectangle 50"/>
          <p:cNvSpPr/>
          <p:nvPr/>
        </p:nvSpPr>
        <p:spPr>
          <a:xfrm>
            <a:off x="9001125" y="4000500"/>
            <a:ext cx="2619375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10195036" y="4154805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000000"/>
                </a:solidFill>
                <a:latin typeface="Arial"/>
                <a:ea typeface="Microsoft YaHei"/>
                <a:cs typeface="Arial"/>
              </a:rPr>
              <a:t>📱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807570" y="4569142"/>
            <a:ext cx="9969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minSdk 26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824990" y="4839652"/>
            <a:ext cx="9621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Android 8.0+</a:t>
            </a:r>
          </a:p>
        </p:txBody>
      </p:sp>
      <p:sp>
        <p:nvSpPr>
          <p:cNvPr id="54" name="Rectangle 54"/>
          <p:cNvSpPr/>
          <p:nvPr/>
        </p:nvSpPr>
        <p:spPr>
          <a:xfrm>
            <a:off x="571500" y="5524500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917031" y="5691664"/>
            <a:ext cx="1035793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Gradle · Release 签名 · ExecutorService 线程池 · SwipeRefreshLayout · ViewPager2 · StaggeredGrid · TTS · Sensor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2138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数据库设计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238250"/>
            <a:ext cx="1333500" cy="476250"/>
          </a:xfrm>
          <a:prstGeom prst="roundRect">
            <a:avLst>
              <a:gd name="adj" fmla="val 16000"/>
            </a:avLst>
          </a:prstGeom>
          <a:solidFill>
            <a:srgbClr val="38BDF8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95039" y="1387792"/>
            <a:ext cx="68642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v1 初始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82140" y="128206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9" name="Rectangle 9"/>
          <p:cNvSpPr/>
          <p:nvPr/>
        </p:nvSpPr>
        <p:spPr>
          <a:xfrm>
            <a:off x="2190750" y="1238250"/>
            <a:ext cx="1905000" cy="47625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2568416" y="1395889"/>
            <a:ext cx="114966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v2 +Workout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072890" y="128206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81500" y="1238250"/>
            <a:ext cx="2000250" cy="47625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774204" y="1395889"/>
            <a:ext cx="121484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v3 +Strength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58890" y="128206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67500" y="123825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012210" y="1395889"/>
            <a:ext cx="159658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v4 +Measurement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30640" y="1282065"/>
            <a:ext cx="1903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8" name="Rectangle 18"/>
          <p:cNvSpPr/>
          <p:nvPr/>
        </p:nvSpPr>
        <p:spPr>
          <a:xfrm>
            <a:off x="9239250" y="1238250"/>
            <a:ext cx="2381250" cy="476250"/>
          </a:xfrm>
          <a:prstGeom prst="roundRect">
            <a:avLst>
              <a:gd name="adj" fmla="val 16000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783116" y="1395889"/>
            <a:ext cx="129351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v5 +Playlist 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1045" y="2107882"/>
            <a:ext cx="13576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8 个 Entity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2524125"/>
            <a:ext cx="11049000" cy="17145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762000" y="2714625"/>
            <a:ext cx="1905000" cy="38100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96387" y="2840831"/>
            <a:ext cx="12362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WorkoutRecord</a:t>
            </a:r>
          </a:p>
        </p:txBody>
      </p:sp>
      <p:sp>
        <p:nvSpPr>
          <p:cNvPr id="24" name="Rectangle 24"/>
          <p:cNvSpPr/>
          <p:nvPr/>
        </p:nvSpPr>
        <p:spPr>
          <a:xfrm>
            <a:off x="2809875" y="2714625"/>
            <a:ext cx="1905000" cy="38100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3115508" y="2840831"/>
            <a:ext cx="12937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StrengthRecord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857750" y="2714625"/>
            <a:ext cx="1905000" cy="38100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257860" y="2840831"/>
            <a:ext cx="11047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WeightRecord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905625" y="2714625"/>
            <a:ext cx="1905000" cy="38100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133213" y="2840831"/>
            <a:ext cx="14498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BodyMeasurement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953500" y="2714625"/>
            <a:ext cx="2476500" cy="38100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487376" y="2840831"/>
            <a:ext cx="1408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WorkoutTemplate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238500"/>
            <a:ext cx="1905000" cy="38100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359277" y="33647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BlogPost</a:t>
            </a:r>
          </a:p>
        </p:txBody>
      </p:sp>
      <p:sp>
        <p:nvSpPr>
          <p:cNvPr id="34" name="Rectangle 34"/>
          <p:cNvSpPr/>
          <p:nvPr/>
        </p:nvSpPr>
        <p:spPr>
          <a:xfrm>
            <a:off x="2809875" y="3238500"/>
            <a:ext cx="1905000" cy="38100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378398" y="3364706"/>
            <a:ext cx="76795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🆕 Playlist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857750" y="3238500"/>
            <a:ext cx="1905000" cy="38100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5245537" y="3364706"/>
            <a:ext cx="11294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🆕 PlaylistSong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41045" y="4489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7 个 DAO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4905375"/>
            <a:ext cx="11049000" cy="7620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937260" y="5204460"/>
            <a:ext cx="1155382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WorkoutRecordDao · StrengthRecordDao · WeightRecordDao · BodyMeasurementDao · WorkoutTemplateDao · BlogPostDao · 🆕 PlaylistDao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44855" y="6045518"/>
            <a:ext cx="1033629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设计要点：双重检查锁单例 · ApplicationContext 防止内存泄漏 · exportSchema=false · ProGuard 全量 Keep 规则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331888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 大功能模块总览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047750"/>
            <a:ext cx="11049000" cy="47625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3831146" y="1197292"/>
            <a:ext cx="45297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综合完成度: 85% | 功能总数: 58 项 | 已完成: 45 项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762125"/>
            <a:ext cx="352425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36295" y="1917382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🎵 音乐播放</a:t>
            </a:r>
          </a:p>
        </p:txBody>
      </p:sp>
      <p:sp>
        <p:nvSpPr>
          <p:cNvPr id="10" name="Rectangle 10"/>
          <p:cNvSpPr/>
          <p:nvPr/>
        </p:nvSpPr>
        <p:spPr>
          <a:xfrm>
            <a:off x="2857500" y="1952625"/>
            <a:ext cx="1047750" cy="238125"/>
          </a:xfrm>
          <a:prstGeom prst="roundRect">
            <a:avLst>
              <a:gd name="adj" fmla="val 48000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235198" y="20107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93%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962" y="2402681"/>
            <a:ext cx="51795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MP3扫描 · 播放模式 · EQ均衡器 · BPM步频匹配 · 歌单管理 · Gapless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333875" y="1762125"/>
            <a:ext cx="352425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598670" y="1917382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🏋️ 力量训练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619875" y="1952625"/>
            <a:ext cx="1047750" cy="238125"/>
          </a:xfrm>
          <a:prstGeom prst="roundRect">
            <a:avLst>
              <a:gd name="adj" fmla="val 48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997573" y="20107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05338" y="2402681"/>
            <a:ext cx="39226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50+动作库 · ViewPager2训练 · %1RM · AI计划 · 模板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096250" y="1762125"/>
            <a:ext cx="352425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361045" y="1917382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🗺️ 运动追踪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0382250" y="1952625"/>
            <a:ext cx="1047750" cy="238125"/>
          </a:xfrm>
          <a:prstGeom prst="roundRect">
            <a:avLst>
              <a:gd name="adj" fmla="val 48000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759948" y="20107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92%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67712" y="2402681"/>
            <a:ext cx="40130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GPS追踪 · 配速路线 · 语音播报 · 自动暂停 · 路线回放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71500" y="3048000"/>
            <a:ext cx="352425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36295" y="3203258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📊 数据统计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857500" y="3238500"/>
            <a:ext cx="1047750" cy="238125"/>
          </a:xfrm>
          <a:prstGeom prst="roundRect">
            <a:avLst>
              <a:gd name="adj" fmla="val 48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235198" y="329660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80%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2962" y="3688556"/>
            <a:ext cx="40869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日历热力图 · 折线图 · 过滤芯片 · 趋势箭头 · PR纪录墙</a:t>
            </a:r>
          </a:p>
        </p:txBody>
      </p:sp>
      <p:sp>
        <p:nvSpPr>
          <p:cNvPr id="28" name="Rectangle 28"/>
          <p:cNvSpPr/>
          <p:nvPr/>
        </p:nvSpPr>
        <p:spPr>
          <a:xfrm>
            <a:off x="4333875" y="3048000"/>
            <a:ext cx="352425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4598670" y="3203258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👤 个人中心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619875" y="3238500"/>
            <a:ext cx="1047750" cy="238125"/>
          </a:xfrm>
          <a:prstGeom prst="roundRect">
            <a:avLst>
              <a:gd name="adj" fmla="val 48000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997573" y="329660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88%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05338" y="3688556"/>
            <a:ext cx="398014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头像 · 体重趋势 · 围度 · CSV导出 · 成就(9枚) · 主题</a:t>
            </a:r>
          </a:p>
        </p:txBody>
      </p:sp>
      <p:sp>
        <p:nvSpPr>
          <p:cNvPr id="33" name="Rectangle 33"/>
          <p:cNvSpPr/>
          <p:nvPr/>
        </p:nvSpPr>
        <p:spPr>
          <a:xfrm>
            <a:off x="8096250" y="3048000"/>
            <a:ext cx="352425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8361045" y="3203258"/>
            <a:ext cx="140828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🏘️ 社区社交</a:t>
            </a:r>
          </a:p>
        </p:txBody>
      </p:sp>
      <p:sp>
        <p:nvSpPr>
          <p:cNvPr id="35" name="Rectangle 35"/>
          <p:cNvSpPr/>
          <p:nvPr/>
        </p:nvSpPr>
        <p:spPr>
          <a:xfrm>
            <a:off x="10382250" y="3238500"/>
            <a:ext cx="1047750" cy="238125"/>
          </a:xfrm>
          <a:prstGeom prst="roundRect">
            <a:avLst>
              <a:gd name="adj" fmla="val 48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10759948" y="329660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85%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67712" y="3688556"/>
            <a:ext cx="44237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帖子瀑布流 · 发布动态 · 点赞评论 · 关注 · 挑战排行 · 举报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333875"/>
            <a:ext cx="11049000" cy="666750"/>
          </a:xfrm>
          <a:prstGeom prst="roundRect">
            <a:avLst>
              <a:gd name="adj" fmla="val 1714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33450" y="4429125"/>
            <a:ext cx="15102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⚙️ 系统级功能</a:t>
            </a:r>
          </a:p>
        </p:txBody>
      </p:sp>
      <p:sp>
        <p:nvSpPr>
          <p:cNvPr id="40" name="Rectangle 40"/>
          <p:cNvSpPr/>
          <p:nvPr/>
        </p:nvSpPr>
        <p:spPr>
          <a:xfrm>
            <a:off x="2857500" y="4448175"/>
            <a:ext cx="1047750" cy="238125"/>
          </a:xfrm>
          <a:prstGeom prst="roundRect">
            <a:avLst>
              <a:gd name="adj" fmla="val 48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3235198" y="450627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75%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38212" y="4736306"/>
            <a:ext cx="71019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引导页 · Widget · 通知权限 · 深色/浅色主题 · Release+ProGuard · DB v5迁移 · minSdk 34→26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5334000"/>
            <a:ext cx="11049000" cy="38100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571500" y="5334000"/>
            <a:ext cx="9391650" cy="381000"/>
          </a:xfrm>
          <a:prstGeom prst="roundRect">
            <a:avLst>
              <a:gd name="adj" fmla="val 50000"/>
            </a:avLst>
          </a:prstGeom>
          <a:solidFill>
            <a:srgbClr val="FC4C02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5214342" y="5419725"/>
            <a:ext cx="17633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总体完成度: 85%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302905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音乐 + 力量训练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1143000"/>
            <a:ext cx="5524500" cy="53340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9525">
            <a:solidFill>
              <a:srgbClr val="38BDF8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451006" y="1377315"/>
            <a:ext cx="13844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🎵 音乐模块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94242" y="1727835"/>
            <a:ext cx="8980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完成度 93%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2047875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46760" y="2251710"/>
            <a:ext cx="34129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双向 MP3 扫描 (MediaStore + 文件系统)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760" y="2537460"/>
            <a:ext cx="20021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3 种播放模式 + ❤️ 收藏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2823210"/>
            <a:ext cx="24841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5 段 EQ 均衡器 + AudioFocus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31089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前台服务 + 通知栏控制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33947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BPM 步频匹配引擎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760" y="3680460"/>
            <a:ext cx="26155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📂 歌单管理 (Room Playlist 表)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6760" y="3966210"/>
            <a:ext cx="15640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Gapless 无缝播放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760" y="4251960"/>
            <a:ext cx="15552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❌ Spotify SDK 集成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6760" y="4537710"/>
            <a:ext cx="127482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❌ 歌词 LRC 显示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6760" y="4823460"/>
            <a:ext cx="33341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❌ MediaSession 蓝牙线控 (兼容性待调试)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66750" y="5286375"/>
            <a:ext cx="4953000" cy="28575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87456" y="5373052"/>
            <a:ext cx="47115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demo MP3 × 2 · MusicViewModel (MVVM) · StepCadenceDetector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286500" y="1143000"/>
            <a:ext cx="5524500" cy="53340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280597" y="1377315"/>
            <a:ext cx="153630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🏋️ 力量训练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99742" y="1727835"/>
            <a:ext cx="8980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完成度 85%</a:t>
            </a:r>
          </a:p>
        </p:txBody>
      </p:sp>
      <p:sp>
        <p:nvSpPr>
          <p:cNvPr id="25" name="Line 25"/>
          <p:cNvSpPr/>
          <p:nvPr/>
        </p:nvSpPr>
        <p:spPr>
          <a:xfrm>
            <a:off x="6572250" y="2047875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652260" y="2251710"/>
            <a:ext cx="23439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7大肌群 × 17子群 × 50+动作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2260" y="2537460"/>
            <a:ext cx="23351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动作搜索 + 多选 + 肌群标签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2260" y="2823210"/>
            <a:ext cx="32114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双模式训练 (列表 / ViewPager2 滑动)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2260" y="3108960"/>
            <a:ext cx="19232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热身标记 + RPE + 备注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2260" y="3394710"/>
            <a:ext cx="1660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%1RM 一键填充胶囊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2260" y="3680460"/>
            <a:ext cx="29135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组间休息计时器 (60/90/120/180s)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2260" y="3966210"/>
            <a:ext cx="23088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训练模板 + 渐进超负荷建议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2260" y="4251960"/>
            <a:ext cx="197586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🤖 DeepSeek AI 4周计划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2260" y="4537710"/>
            <a:ext cx="23526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动作详情折线图 (重量趋势)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2260" y="4823460"/>
            <a:ext cx="284340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❌ 动作演示 GIF (6张已下载,待展示)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572250" y="5286375"/>
            <a:ext cx="4953000" cy="28575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961322" y="5373052"/>
            <a:ext cx="41748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2 Activities · ExercisePageAdapter · BuildConfig API Key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383645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GPS 追踪 + 数据统计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1143000"/>
            <a:ext cx="5524500" cy="53340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9525">
            <a:solidFill>
              <a:srgbClr val="22C55E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105963" y="1377315"/>
            <a:ext cx="20745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🗺️ GPS 运动追踪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94242" y="1727835"/>
            <a:ext cx="8980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完成度 92%</a:t>
            </a:r>
          </a:p>
        </p:txBody>
      </p:sp>
      <p:sp>
        <p:nvSpPr>
          <p:cNvPr id="9" name="Line 9"/>
          <p:cNvSpPr/>
          <p:nvPr/>
        </p:nvSpPr>
        <p:spPr>
          <a:xfrm>
            <a:off x="666750" y="2047875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746760" y="2251710"/>
            <a:ext cx="2273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高德 3D 地图实时 GPS 追踪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760" y="2537460"/>
            <a:ext cx="28872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配速着色路线 (4色: 蓝/绿/橙/红)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6760" y="2823210"/>
            <a:ext cx="19408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每公里语音播报 (TTS)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760" y="3108960"/>
            <a:ext cx="224751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自动暂停 (8s 无移动检测)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6760" y="3394710"/>
            <a:ext cx="19320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运动中迷你音乐控制条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6760" y="3680460"/>
            <a:ext cx="2685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路线回放动画 (RoutePlayback)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6760" y="3966210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运动后快速再开始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46760" y="4251960"/>
            <a:ext cx="12310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❌ 目标配速提醒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6760" y="4537710"/>
            <a:ext cx="165163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❌ 分段配速 (每公里)</a:t>
            </a:r>
          </a:p>
        </p:txBody>
      </p:sp>
      <p:sp>
        <p:nvSpPr>
          <p:cNvPr id="19" name="Rectangle 19"/>
          <p:cNvSpPr/>
          <p:nvPr/>
        </p:nvSpPr>
        <p:spPr>
          <a:xfrm>
            <a:off x="666750" y="5286375"/>
            <a:ext cx="4953000" cy="28575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1032820" y="5373052"/>
            <a:ext cx="42208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AMap · LocationClient · TextToSpeech · PathPoints JSON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86500" y="1143000"/>
            <a:ext cx="5524500" cy="5334000"/>
          </a:xfrm>
          <a:prstGeom prst="roundRect">
            <a:avLst>
              <a:gd name="adj" fmla="val 2500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7804437" y="1377315"/>
            <a:ext cx="248862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📊 数据统计 (MVVM)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599742" y="1727835"/>
            <a:ext cx="8980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完成度 80%</a:t>
            </a:r>
          </a:p>
        </p:txBody>
      </p:sp>
      <p:sp>
        <p:nvSpPr>
          <p:cNvPr id="24" name="Line 24"/>
          <p:cNvSpPr/>
          <p:nvPr/>
        </p:nvSpPr>
        <p:spPr>
          <a:xfrm>
            <a:off x="6572250" y="2047875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>
            <a:solidFill>
              <a:srgbClr val="33415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652260" y="2251710"/>
            <a:ext cx="18268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日历热力图 (月视图)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2260" y="2537460"/>
            <a:ext cx="314134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MPAndroidChart 折线图 (距离/热量)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2260" y="2823210"/>
            <a:ext cx="286092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5种运动过滤芯片 (HScroll防溢出)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52260" y="3108960"/>
            <a:ext cx="28171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摘要卡片 (距离/时长/次数/热量)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52260" y="3394710"/>
            <a:ext cx="246659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趋势箭头 (本月 vs 上月 ↑↓%)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2260" y="3680460"/>
            <a:ext cx="28959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个人纪录墙 (最快/最远/最大重量)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52260" y="3966210"/>
            <a:ext cx="25016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目标进度条 (🎯 月目标完成度)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2260" y="4251960"/>
            <a:ext cx="203720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运动历史 RecyclerView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2260" y="4537710"/>
            <a:ext cx="2685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❌ 周视图对比 / 年视图 / 周报推送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572250" y="5286375"/>
            <a:ext cx="4953000" cy="28575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865477" y="5373052"/>
            <a:ext cx="43665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StatsViewModel · StatsRepository · 防御性拷贝 (线程安全)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社区社交系统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4855" y="949642"/>
            <a:ext cx="43226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Firebase Firestore 驱动 · 匿名登录 · 离线降级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476375"/>
            <a:ext cx="2286000" cy="57150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1036777" y="1584960"/>
            <a:ext cx="13554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v5.1 基础版 55%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6602" y="1799749"/>
            <a:ext cx="10357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发帖+点赞+评论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30830" y="1535430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333750" y="1476375"/>
            <a:ext cx="2476500" cy="5715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3963286" y="1584960"/>
            <a:ext cx="12174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v5.2 升级 75%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406188" y="1799749"/>
            <a:ext cx="233162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+下拉刷新+自动发帖+用户主页+举报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783580" y="1535430"/>
            <a:ext cx="222028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→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1476375"/>
            <a:ext cx="2857500" cy="57150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014524" y="1584960"/>
            <a:ext cx="14014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v5.2 社交版 85%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86993" y="1799749"/>
            <a:ext cx="12565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+关注+挑战+活动流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476500"/>
            <a:ext cx="352425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756755" y="2647950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👥 关注系统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2010" y="3013710"/>
            <a:ext cx="239649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followUser / unfollowUser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42010" y="3299460"/>
            <a:ext cx="18531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isFollowing 状态检测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2010" y="3585210"/>
            <a:ext cx="18356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粉丝数 / 关注数 统计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2010" y="3870960"/>
            <a:ext cx="208102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Firestore follows 集合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333875" y="2476500"/>
            <a:ext cx="352425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519130" y="2647950"/>
            <a:ext cx="1153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🏆 挑战系统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04385" y="3013710"/>
            <a:ext cx="19232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创建挑战 (目标+时限)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04385" y="32994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加入挑战 / 进度更新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604385" y="3585210"/>
            <a:ext cx="18268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排行榜 (按进度排序)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04385" y="3870960"/>
            <a:ext cx="158153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运动完成自动同步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96250" y="2476500"/>
            <a:ext cx="352425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9396520" y="2647950"/>
            <a:ext cx="9237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📝 活动流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66760" y="3013710"/>
            <a:ext cx="175679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运动后自动生成动态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66760" y="3299460"/>
            <a:ext cx="14763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PR 成就自动发帖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6760" y="3585210"/>
            <a:ext cx="185318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publishActivity 方法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6760" y="3870960"/>
            <a:ext cx="17743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配速/动作/热量详情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4714875"/>
            <a:ext cx="11049000" cy="9525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935355" y="4902518"/>
            <a:ext cx="18975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Firestore 数据模型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37260" y="5252085"/>
            <a:ext cx="19484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posts {userId, nickname, title, content, imageUri, timestamp, likes[], comments[]} | follows {followerId, followingId} | challenges {title, goalValue, goalType, participants[], endDate} | reports {postId, reporterId, reason}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5905500"/>
            <a:ext cx="11049000" cy="381000"/>
          </a:xfrm>
          <a:prstGeom prst="roundRect">
            <a:avLst>
              <a:gd name="adj" fmla="val 2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2501075" y="6023610"/>
            <a:ext cx="718985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待完成: 挑战 UI 集成 (已实现后端) · 活动流 UI 优化 (帖子内显示配速标签) · 举报审核后台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373293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 轮全维度代码审计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38200" y="1314450"/>
            <a:ext cx="26719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第1轮 · 空安全与异常处理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2962" y="1640681"/>
            <a:ext cx="68637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aMap null 守卫 · POST_NOTIFICATIONS 运行时权限 · requireActivity() 崩溃 → safePost()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3915" y="1886902"/>
            <a:ext cx="15295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发现: 1 个 | 修复: 1 个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286500" y="1143000"/>
            <a:ext cx="533400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553200" y="1314450"/>
            <a:ext cx="29594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第2轮 · 资源管理与生命周期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57962" y="1640681"/>
            <a:ext cx="59518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BroadcastReceiver 未注销 · ExecutorService 未关闭 · MediaPlayer 异常泄漏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58915" y="1886902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发现: 3 个 | 修复: 3 个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428875"/>
            <a:ext cx="533400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38200" y="2600325"/>
            <a:ext cx="24994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第3轮 · 并发与线程安全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2962" y="2926556"/>
            <a:ext cx="68965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Room 主线程访问 · ArrayList 竞争 · LinkedHashSet 竞争 · LiveData setValue → postValue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3915" y="3172778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发现: 4 个 | 修复: 4 个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286500" y="2428875"/>
            <a:ext cx="533400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553200" y="2600325"/>
            <a:ext cx="29594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第4轮 · 边界条件与数据校验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57962" y="2926556"/>
            <a:ext cx="55656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除零保护 · parseDouble try-catch · 发帖空标题拦截 · errorStream NPE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58915" y="3172778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发现: 2 个 | 修复: 2 个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714750"/>
            <a:ext cx="5334000" cy="104775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838200" y="3886200"/>
            <a:ext cx="2039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第5轮 · 依赖可靠性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2962" y="4212431"/>
            <a:ext cx="51877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UserManager volatile 单例 · ProGuard 内部类 Keep · DB 迁移链验证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3915" y="4458652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发现: 3 个 | 修复: 3 个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5048250"/>
            <a:ext cx="11049000" cy="1238250"/>
          </a:xfrm>
          <a:prstGeom prst="roundRect">
            <a:avLst>
              <a:gd name="adj" fmla="val 1076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31545" y="525113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审计成果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36308" y="5672614"/>
            <a:ext cx="843993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5 轮审计 · 扫描 54 Java 文件 + 23 XML 布局 · 发现 13 个 Bug · 全部修复 · 编译 0 错误 · Lint 0 警告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38212" y="6022181"/>
            <a:ext cx="908184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额外完成: printStackTrace → Log.e (7处) · ViewBinding 分析 (ViewHolder 已足够) · ContentDescription 覆盖 23 元素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431261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真机测试 Bug 修复实录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571500" y="1143000"/>
            <a:ext cx="561975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840105" y="1330642"/>
            <a:ext cx="25082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🐛 Bug 1: 音乐播放按钮变形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3915" y="1648778"/>
            <a:ext cx="29173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症状: 拖动歌单面板时播放按钮被挤压变形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3915" y="1886902"/>
            <a:ext cx="4512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修复: 布局重构 — 播放器/mni条/歌单三层分离,面板改为点击展开</a:t>
            </a:r>
          </a:p>
        </p:txBody>
      </p:sp>
      <p:sp>
        <p:nvSpPr>
          <p:cNvPr id="10" name="Rectangle 10"/>
          <p:cNvSpPr/>
          <p:nvPr/>
        </p:nvSpPr>
        <p:spPr>
          <a:xfrm>
            <a:off x="6572250" y="1143000"/>
            <a:ext cx="504825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6840855" y="1330642"/>
            <a:ext cx="256000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🐛 Bug 2: 地图显示世界地图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44665" y="1648778"/>
            <a:ext cx="209692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症状: GPS定位前显示整个地球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4665" y="1886902"/>
            <a:ext cx="30093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修复: moveCamera 预置到 zoom=15 街道级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2619375"/>
            <a:ext cx="561975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840105" y="2807018"/>
            <a:ext cx="214595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🐛 Bug 3: 社区发帖失败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43915" y="3125152"/>
            <a:ext cx="359211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症状: 点击发布无反应, Firebase signIn 异步未完成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43915" y="3363278"/>
            <a:ext cx="382981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修复: 发布时重新 signIn 获取 userId, 空值 Toast 提示</a:t>
            </a:r>
          </a:p>
        </p:txBody>
      </p:sp>
      <p:sp>
        <p:nvSpPr>
          <p:cNvPr id="18" name="Rectangle 18"/>
          <p:cNvSpPr/>
          <p:nvPr/>
        </p:nvSpPr>
        <p:spPr>
          <a:xfrm>
            <a:off x="6572250" y="2619375"/>
            <a:ext cx="504825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6840855" y="2807018"/>
            <a:ext cx="19389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🐛 Bug 4: 个人页闪退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44665" y="3125152"/>
            <a:ext cx="39524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Fragment 重建时旧 Executor 任务访问新 View 导致 NPE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844665" y="3363278"/>
            <a:ext cx="44048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修复: View 引用局部 final 捕获 + 全 executor 任务 try-catch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4095750"/>
            <a:ext cx="561975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40105" y="4283392"/>
            <a:ext cx="338810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🐛 Bug 5: 成就解锁后个人页再次闪退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3915" y="4601528"/>
            <a:ext cx="24649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getContext() 在后台线程返回 null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3915" y="4839652"/>
            <a:ext cx="30937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修复: 局部 final Context 捕获 + null 全守卫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5667375"/>
            <a:ext cx="11049000" cy="428625"/>
          </a:xfrm>
          <a:prstGeom prst="roundRect">
            <a:avLst>
              <a:gd name="adj" fmla="val 22222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2303097" y="5797868"/>
            <a:ext cx="758580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5 个 Bug · 全部修复 · 真机验证通过 · APK 已更新至桌面 MusicGym_v5.2_debug.apk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468525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代码规模 + 综合质量评分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1045" y="1155382"/>
            <a:ext cx="105403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代码规模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334000" cy="333375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25830" y="17735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54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12558" y="1862614"/>
            <a:ext cx="457600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Java 文件 (10 Activity + 5 Fragment + 4 ViewModel)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5830" y="21545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23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2558" y="2243614"/>
            <a:ext cx="117760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XML 布局文件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5830" y="2535555"/>
            <a:ext cx="113217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11,300+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79308" y="2624614"/>
            <a:ext cx="3160776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代码行 (Java ~8,300 + XML ~3,000)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5830" y="2916555"/>
            <a:ext cx="40758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73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558" y="3005614"/>
            <a:ext cx="2285571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Git Commits (语义化提交)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5830" y="3297555"/>
            <a:ext cx="32707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2558" y="3386614"/>
            <a:ext cx="777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单元测试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5830" y="3678555"/>
            <a:ext cx="135760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45-83MB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79308" y="3767614"/>
            <a:ext cx="273248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Release(45MB) / Debug(83MB)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5830" y="4059555"/>
            <a:ext cx="155082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minSdk 26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079308" y="4148614"/>
            <a:ext cx="238798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覆盖 Android 8.0+ 95% 设备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5830" y="4440555"/>
            <a:ext cx="5847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20+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03058" y="4529614"/>
            <a:ext cx="1587270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Bug 修复 (本会话)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265545" y="1155382"/>
            <a:ext cx="205351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质量评分 (6维度)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1571625"/>
            <a:ext cx="5334000" cy="3333750"/>
          </a:xfrm>
          <a:prstGeom prst="roundRect">
            <a:avLst>
              <a:gd name="adj" fmla="val 3429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652260" y="187071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易用性</a:t>
            </a:r>
          </a:p>
        </p:txBody>
      </p:sp>
      <p:sp>
        <p:nvSpPr>
          <p:cNvPr id="27" name="Rectangle 27"/>
          <p:cNvSpPr/>
          <p:nvPr/>
        </p:nvSpPr>
        <p:spPr>
          <a:xfrm>
            <a:off x="7429500" y="188595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7429500" y="1885950"/>
            <a:ext cx="2838450" cy="1714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0749915" y="191547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88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2260" y="2204085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性能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429500" y="2219325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7429500" y="2219325"/>
            <a:ext cx="2771775" cy="17145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749915" y="22488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86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2260" y="2537460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可靠性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429500" y="255270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7429500" y="2552700"/>
            <a:ext cx="3009900" cy="1714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749915" y="25822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93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2260" y="2870835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无障碍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429500" y="2886075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7429500" y="2886075"/>
            <a:ext cx="2686050" cy="1714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749915" y="291560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83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52260" y="32042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可维护性</a:t>
            </a:r>
          </a:p>
        </p:txBody>
      </p:sp>
      <p:sp>
        <p:nvSpPr>
          <p:cNvPr id="43" name="Rectangle 43"/>
          <p:cNvSpPr/>
          <p:nvPr/>
        </p:nvSpPr>
        <p:spPr>
          <a:xfrm>
            <a:off x="7429500" y="3219450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7429500" y="3219450"/>
            <a:ext cx="2752725" cy="17145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749915" y="324897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85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652260" y="3537585"/>
            <a:ext cx="5562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安全性</a:t>
            </a:r>
          </a:p>
        </p:txBody>
      </p:sp>
      <p:sp>
        <p:nvSpPr>
          <p:cNvPr id="47" name="Rectangle 47"/>
          <p:cNvSpPr/>
          <p:nvPr/>
        </p:nvSpPr>
        <p:spPr>
          <a:xfrm>
            <a:off x="7429500" y="3552825"/>
            <a:ext cx="3238500" cy="171450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7429500" y="3552825"/>
            <a:ext cx="2971800" cy="1714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10749915" y="3582352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92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40830" y="3964305"/>
            <a:ext cx="258135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C4C02"/>
                </a:solidFill>
                <a:latin typeface="Arial"/>
                <a:ea typeface="Microsoft YaHei"/>
                <a:cs typeface="Arial"/>
              </a:rPr>
              <a:t>综合 88/100 (B+)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52260" y="4394835"/>
            <a:ext cx="31501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6维度全部 80+ · 4维度 85+ · 2维度 90+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5238750"/>
            <a:ext cx="11049000" cy="523875"/>
          </a:xfrm>
          <a:prstGeom prst="roundRect">
            <a:avLst>
              <a:gd name="adj" fmla="val 18182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2569678" y="5424964"/>
            <a:ext cx="705264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✅ 编译 0 错误 · Lint 0 警告 · 10 APK 权限声明 · 53 ProGuard 规则 · DB v5 完整迁移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项目不足之处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28575">
            <a:solidFill>
              <a:srgbClr val="EF4444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5808" y="957739"/>
            <a:ext cx="412908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坦诚分析当前版本的技术债、缺失功能和流程短板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1045" y="1441132"/>
            <a:ext cx="11552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⚠️ 技术债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809750"/>
            <a:ext cx="11049000" cy="1476375"/>
          </a:xfrm>
          <a:prstGeom prst="roundRect">
            <a:avLst>
              <a:gd name="adj" fmla="val 7742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937260" y="2013585"/>
            <a:ext cx="735634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🔴 0 个单元测试运行 (Robolectric 4.12 不兼容 compileSdk 36, 14个测试编译通过但无法执行)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7260" y="2327910"/>
            <a:ext cx="71810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🔴 ~75 条硬编码中文字符串未提取到 strings.xml (已在字符串文件定义,但未全量替换引用)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7260" y="2642235"/>
            <a:ext cx="61908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🟡 剩余 2 个 Fragment (Profile/Share) 未 MVVM 化 — 混合架构,状态管理分散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7260" y="2956560"/>
            <a:ext cx="68130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🟡 dp() / WRAP 在 4 个文件中重复定义 (均为 UiUtils 委托,非真正重复但不利新人理解)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1045" y="3489008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59E0B"/>
                </a:solidFill>
                <a:latin typeface="Arial"/>
                <a:ea typeface="Microsoft YaHei"/>
                <a:cs typeface="Arial"/>
              </a:rPr>
              <a:t>📋 缺失功能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3857625"/>
            <a:ext cx="11049000" cy="123825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37260" y="4061460"/>
            <a:ext cx="58052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🔴 MediaSession 蓝牙线控 (已实现但真机崩溃回退,需用 Media3 API 重写)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7260" y="4375785"/>
            <a:ext cx="637489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🟡 力量训练 GIF 动作演示 (6张GIF已下载,未实现展示逻辑 · 超级组 · 训练笔记 UI)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7260" y="4690110"/>
            <a:ext cx="667283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🟡 统计: 周/年视图 · 周报推送 · 目标配速提醒 · 分段配速 · Spotify 集成 · 歌词显示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1045" y="5298758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A78BFA"/>
                </a:solidFill>
                <a:latin typeface="Arial"/>
                <a:ea typeface="Microsoft YaHei"/>
                <a:cs typeface="Arial"/>
              </a:rPr>
              <a:t>🔧 流程短板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5667375"/>
            <a:ext cx="11049000" cy="85725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937260" y="5871210"/>
            <a:ext cx="87233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真机测试仅 1 台设备 (红米),未覆盖三星/华为/OPPO 等 OEM · 无 CI/CD 自动构建 · 无 Crashlytics 崩溃收集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7260" y="6185535"/>
            <a:ext cx="834656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● Vibe Coding 模式下代码生成速度依赖网络稳定性 · 批量替换含中文路径文件时 Python GBK 编码问题频发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27710" y="280035"/>
            <a:ext cx="404347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Vibe Coding 经验总结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62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rgbClr val="38BDF8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1045" y="1155382"/>
            <a:ext cx="76305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2C55E"/>
                </a:solidFill>
                <a:latin typeface="Arial"/>
                <a:ea typeface="Microsoft YaHei"/>
                <a:cs typeface="Arial"/>
              </a:rPr>
              <a:t>✅ 收益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24000"/>
            <a:ext cx="5334000" cy="209550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42010" y="1775460"/>
            <a:ext cx="45083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🚀 开发效率: 单会话 35 次提交, 7项新功能 + 20+ Bug修复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2010" y="2108835"/>
            <a:ext cx="522693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🔍 代码质量: AI 可执行机械性审计 (5轮全维度), 人做不到这种耐心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2010" y="2442210"/>
            <a:ext cx="464858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📝 文档输出: README/ROADMAP/SUMMARY/作品集一键生成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2010" y="2775585"/>
            <a:ext cx="435940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🧠 方案探索: AI 可快速给出多种方案对比, 人工只需决策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2010" y="3108960"/>
            <a:ext cx="44470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🔄 快速迭代: 需求→代码→测试→修复 可在5分钟内完成一轮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65545" y="1155382"/>
            <a:ext cx="90221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F4444"/>
                </a:solidFill>
                <a:latin typeface="Arial"/>
                <a:ea typeface="Microsoft YaHei"/>
                <a:cs typeface="Arial"/>
              </a:rPr>
              <a:t>⚠️ 踩坑</a:t>
            </a:r>
          </a:p>
        </p:txBody>
      </p:sp>
      <p:sp>
        <p:nvSpPr>
          <p:cNvPr id="14" name="Rectangle 14"/>
          <p:cNvSpPr/>
          <p:nvPr/>
        </p:nvSpPr>
        <p:spPr>
          <a:xfrm>
            <a:off x="6286500" y="1524000"/>
            <a:ext cx="5334000" cy="209550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557010" y="1775460"/>
            <a:ext cx="48588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❌ 批量 sed/Python 替换易引入语法错误 (中文路径/GBK编码)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57010" y="2108835"/>
            <a:ext cx="46398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❌ AI 倾向于"过度实现",需要人工说"这样够了,不要再加了"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557010" y="2442210"/>
            <a:ext cx="456971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❌ 长会话上下文压缩后会丢失细节 (spec_lock mitigates)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57010" y="2775585"/>
            <a:ext cx="491147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❌ MediaSession 兼容性 — AI 给了"理论正确"的代码但真机崩溃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57010" y="3108960"/>
            <a:ext cx="367588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❌ 无法真机测试 — AI 只能通过 logcat 间接调试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1045" y="3917632"/>
            <a:ext cx="12691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💡 最佳实践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4286250"/>
            <a:ext cx="11049000" cy="1905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842010" y="4537710"/>
            <a:ext cx="49640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1. 编译验证每步必做 — AI 改代码后立即 compile, 不让错误堆积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42010" y="4842510"/>
            <a:ext cx="52444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2. 小步提交 — 每个独立改动一个 commit, 出问题 git revert 即可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2010" y="5147310"/>
            <a:ext cx="621715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3. AI 给方案, 人做决策 — 让 AI 列出 pro/con, 人选择方向, 不要 AI 替你做决定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42010" y="5452110"/>
            <a:ext cx="58929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4. 真机验证不可替代 — 编译通过 ≠ 功能正常, 至少要 1 台真机走一遍全流程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42010" y="5756910"/>
            <a:ext cx="540219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5. spec_lock 是抗上下文压缩的关键 — 18页 PPT 的生成本身就是证明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FC4C02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752918" y="2087880"/>
            <a:ext cx="2686164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5" name="Line 5"/>
          <p:cNvSpPr/>
          <p:nvPr/>
        </p:nvSpPr>
        <p:spPr>
          <a:xfrm>
            <a:off x="4667250" y="27622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rgbClr val="FC4C02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4364069" y="3060382"/>
            <a:ext cx="346386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MusicGym v5.2 · 第一阶段总结</a:t>
            </a:r>
          </a:p>
        </p:txBody>
      </p:sp>
      <p:sp>
        <p:nvSpPr>
          <p:cNvPr id="7" name="Rectangle 7"/>
          <p:cNvSpPr/>
          <p:nvPr/>
        </p:nvSpPr>
        <p:spPr>
          <a:xfrm>
            <a:off x="3238500" y="3810000"/>
            <a:ext cx="5715000" cy="57150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264104" y="4000500"/>
            <a:ext cx="36637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38BDF8"/>
                </a:solidFill>
                <a:latin typeface="Arial"/>
                <a:ea typeface="Microsoft YaHei"/>
                <a:cs typeface="Arial"/>
              </a:rPr>
              <a:t>github.com/Waiutt/musicgymv2.0</a:t>
            </a:r>
          </a:p>
        </p:txBody>
      </p:sp>
      <p:sp>
        <p:nvSpPr>
          <p:cNvPr id="9" name="Rectangle 9"/>
          <p:cNvSpPr/>
          <p:nvPr/>
        </p:nvSpPr>
        <p:spPr>
          <a:xfrm>
            <a:off x="1333500" y="476250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899464" y="4936331"/>
            <a:ext cx="11540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Java 11 · MVVM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0" y="476250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4191119" y="4936331"/>
            <a:ext cx="15237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Room v5 · Firebase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4762500"/>
            <a:ext cx="2286000" cy="47625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95098" y="4936331"/>
            <a:ext cx="186880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AMap · MPAndroidChart</a:t>
            </a:r>
          </a:p>
        </p:txBody>
      </p:sp>
      <p:sp>
        <p:nvSpPr>
          <p:cNvPr id="15" name="Rectangle 15"/>
          <p:cNvSpPr/>
          <p:nvPr/>
        </p:nvSpPr>
        <p:spPr>
          <a:xfrm>
            <a:off x="8763000" y="4762500"/>
            <a:ext cx="2095500" cy="47625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9295328" y="4936331"/>
            <a:ext cx="10308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DeepSeek API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12958" y="5680710"/>
            <a:ext cx="296608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Vibe Coding · AI 驱动开发 · 独立全栈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920395" y="6030278"/>
            <a:ext cx="435121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75569"/>
                </a:solidFill>
                <a:latin typeface="Arial"/>
                <a:ea typeface="Microsoft YaHei"/>
                <a:cs typeface="Arial"/>
              </a:rPr>
              <a:t>2026.06 · 18页 · 354 commits · 54 Java文件 · 11,300+行代码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